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6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26945"/>
            <a:ext cx="10972800" cy="676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OurAI 问卷自由文本标签抽取</a:t>
            </a:r>
            <a:endParaRPr sz="44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021330"/>
            <a:ext cx="109728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固定主标签 + 动态子标签</a:t>
            </a:r>
            <a:r>
              <a:rPr lang="en-US" sz="22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22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Prompt调优</a:t>
            </a:r>
            <a:r>
              <a:rPr lang="en-US" sz="22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22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评测驱动</a:t>
            </a:r>
            <a:endParaRPr sz="2200" b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986530"/>
            <a:ext cx="109728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2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信息技术前沿创新课程期末汇报</a:t>
            </a:r>
            <a:endParaRPr sz="20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汇报人:</a:t>
            </a:r>
            <a:r>
              <a:rPr lang="zh-CN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王晓露</a:t>
            </a:r>
            <a:r>
              <a:rPr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2026-06</a:t>
            </a:r>
            <a:r>
              <a:rPr lang="en-US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-18</a:t>
            </a:r>
            <a:endParaRPr lang="en-US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一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问题背景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OurAI 问卷有三个开放性文本字段，天然不可计算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097279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820"/>
                <a:gridCol w="4695190"/>
                <a:gridCol w="3272788"/>
              </a:tblGrid>
              <a:tr h="42291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字段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问题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下游用途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4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Q22  </a:t>
                      </a:r>
                      <a:r>
                        <a:rPr lang="en-US" sz="1400">
                          <a:solidFill>
                            <a:srgbClr val="2D3748"/>
                          </a:solidFill>
                          <a:latin typeface="+mn-ea"/>
                        </a:rPr>
                        <a:t>intro_prompt</a:t>
                      </a:r>
                      <a:endParaRPr lang="en-US"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>
                          <a:solidFill>
                            <a:srgbClr val="2D3748"/>
                          </a:solidFill>
                          <a:latin typeface="+mn-ea"/>
                        </a:rPr>
                        <a:t>如果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第一次见面，你最希望一起做什么？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约会场景匹配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Q23  </a:t>
                      </a:r>
                      <a:r>
                        <a:rPr lang="en-US" sz="1400">
                          <a:solidFill>
                            <a:srgbClr val="2D3748"/>
                          </a:solidFill>
                          <a:latin typeface="+mn-ea"/>
                        </a:rPr>
                        <a:t>q19</a:t>
                      </a:r>
                      <a:endParaRPr lang="en-US"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你</a:t>
                      </a:r>
                      <a:r>
                        <a:rPr lang="zh-CN" sz="1400">
                          <a:solidFill>
                            <a:srgbClr val="2D3748"/>
                          </a:solidFill>
                          <a:latin typeface="+mn-ea"/>
                        </a:rPr>
                        <a:t>最受不了一段关系里出现什么状态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？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关系雷区匹配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Q24 </a:t>
                      </a:r>
                      <a:r>
                        <a:rPr lang="en-US" sz="1400">
                          <a:solidFill>
                            <a:srgbClr val="2D3748"/>
                          </a:solidFill>
                          <a:latin typeface="+mn-ea"/>
                        </a:rPr>
                        <a:t> q20</a:t>
                      </a:r>
                      <a:endParaRPr lang="en-US"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>
                          <a:solidFill>
                            <a:srgbClr val="2D3748"/>
                          </a:solidFill>
                          <a:latin typeface="+mn-ea"/>
                        </a:rPr>
                        <a:t>是否有其他补充或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要求？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择偶偏好匹配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两种极端方案都走不通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023360"/>
          <a:ext cx="109727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581"/>
                <a:gridCol w="79802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方案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问题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+mn-ea"/>
                          <a:cs typeface="+mn-ea"/>
                        </a:rPr>
                        <a:t>纯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+mn-ea"/>
                          <a:cs typeface="+mn-ea"/>
                        </a:rPr>
                        <a:t>LLM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+mn-ea"/>
                          <a:cs typeface="+mn-ea"/>
                        </a:rPr>
                        <a:t>匹配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+mn-ea"/>
                        <a:cs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>
                          <a:solidFill>
                            <a:srgbClr val="2D3748"/>
                          </a:solidFill>
                          <a:latin typeface="+mn-ea"/>
                          <a:sym typeface="+mn-ea"/>
                        </a:rPr>
                        <a:t>成本高、结果黑盒无法解释、无法和年龄地域等结构化字段一起计算</a:t>
                      </a:r>
                      <a:endParaRPr lang="zh-CN" sz="1400">
                        <a:solidFill>
                          <a:srgbClr val="2D3748"/>
                        </a:solidFill>
                        <a:latin typeface="+mn-ea"/>
                        <a:sym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  <a:sym typeface="+mn-ea"/>
                        </a:rPr>
                        <a:t>纯关键词规则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+mn-ea"/>
                        <a:sym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  <a:cs typeface="+mn-ea"/>
                          <a:sym typeface="+mn-ea"/>
                        </a:rPr>
                        <a:t>fallback 实测主标签准确率仅 53.3%，网络词/否定句/并列结构全漏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  <a:cs typeface="+mn-ea"/>
                      </a:endParaRPr>
                    </a:p>
                    <a:p>
                      <a:endParaRPr lang="zh-CN" sz="1400">
                        <a:solidFill>
                          <a:srgbClr val="2D3748"/>
                        </a:solidFill>
                        <a:latin typeface="+mn-ea"/>
                        <a:cs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77840"/>
            <a:ext cx="10972800" cy="73152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选型：固定主标签（保证可计算）+ 动态子标签（保留语义细节）+ LLM 抽取</a:t>
            </a:r>
            <a:r>
              <a:rPr lang="zh-CN" sz="15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（解决网络词、隐含语义）</a:t>
            </a:r>
            <a:r>
              <a:rPr sz="15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关键词降级兜底</a:t>
            </a:r>
            <a:endParaRPr sz="1500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2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二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技术方案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标签体系：三字段各自的主标签设计</a:t>
            </a:r>
            <a:r>
              <a:rPr lang="zh-CN"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以及预设一系列子标签作为参考</a:t>
            </a:r>
            <a:endParaRPr lang="zh-CN"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/>
                <a:gridCol w="2331720"/>
                <a:gridCol w="729932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字段</a:t>
                      </a:r>
                      <a:endParaRPr sz="1400" b="1">
                        <a:solidFill>
                          <a:srgbClr val="1A365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主标签</a:t>
                      </a:r>
                      <a:endParaRPr sz="1400" b="1">
                        <a:solidFill>
                          <a:srgbClr val="1A365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 b="1">
                          <a:solidFill>
                            <a:srgbClr val="1A365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具体设计</a:t>
                      </a:r>
                      <a:endParaRPr lang="zh-CN" sz="1400" b="1">
                        <a:solidFill>
                          <a:srgbClr val="1A365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Q22 场景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 类 + 互动横切维度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美食社交 / 文娱体验 / 运动户外 / 散步闲逛 / 学习共处</a:t>
                      </a:r>
                      <a:r>
                        <a:rPr lang="zh-CN"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，强互动/弱互动/null</a:t>
                      </a:r>
                      <a:endParaRPr lang="zh-CN"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Q23 雷区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 类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沟通断裂 / 不真诚 / 情感敷衍 / 边界侵犯 / 过度索取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Q24 补充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 类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性格气质 / 生活方式 / 关系节奏 / 独立空间 / 地域条件 / 外貌形象 / 价值观与人生观</a:t>
                      </a:r>
                      <a:endParaRPr sz="1400">
                        <a:solidFill>
                          <a:srgbClr val="2D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0332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抽取流程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输入文本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0726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Prompt
构造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370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 调用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68390" y="4206240"/>
            <a:ext cx="146304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主标签
白名单校验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parseTagJson</a:t>
            </a:r>
            <a:endParaRPr lang="en-US"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4206240"/>
            <a:ext cx="1463040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
结构化标签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2" name="Connector 11"/>
          <p:cNvCxnSpPr>
            <a:endCxn id="8" idx="1"/>
          </p:cNvCxnSpPr>
          <p:nvPr/>
        </p:nvCxnSpPr>
        <p:spPr>
          <a:xfrm>
            <a:off x="1920240" y="4590415"/>
            <a:ext cx="287020" cy="4445"/>
          </a:xfrm>
          <a:prstGeom prst="bentConnector3">
            <a:avLst>
              <a:gd name="adj1" fmla="val 50221"/>
            </a:avLst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endCxn id="9" idx="1"/>
          </p:cNvCxnSpPr>
          <p:nvPr/>
        </p:nvCxnSpPr>
        <p:spPr>
          <a:xfrm>
            <a:off x="3657600" y="4594860"/>
            <a:ext cx="546100" cy="3175"/>
          </a:xfrm>
          <a:prstGeom prst="bentConnector2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endCxn id="10" idx="1"/>
          </p:cNvCxnSpPr>
          <p:nvPr/>
        </p:nvCxnSpPr>
        <p:spPr>
          <a:xfrm>
            <a:off x="5666740" y="4590415"/>
            <a:ext cx="501650" cy="4445"/>
          </a:xfrm>
          <a:prstGeom prst="bentConnector3">
            <a:avLst>
              <a:gd name="adj1" fmla="val 50127"/>
            </a:avLst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31430" y="4590415"/>
            <a:ext cx="415290" cy="3175"/>
          </a:xfrm>
          <a:prstGeom prst="bentConnector2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20820" y="5664835"/>
            <a:ext cx="1828800" cy="594360"/>
          </a:xfrm>
          <a:prstGeom prst="roundRect">
            <a:avLst/>
          </a:prstGeom>
          <a:solidFill>
            <a:srgbClr val="808080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 失败
关键词降级兜底</a:t>
            </a:r>
            <a:endParaRPr sz="14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0" y="42062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C5582"/>
                </a:solidFill>
                <a:latin typeface="微软雅黑" panose="020B0503020204020204" charset="-122"/>
              </a:rPr>
              <a:t>三个运行时开关</a:t>
            </a:r>
            <a:endParaRPr sz="1100" b="0">
              <a:solidFill>
                <a:srgbClr val="2C5582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2C5582"/>
                </a:solidFill>
                <a:latin typeface="微软雅黑" panose="020B0503020204020204" charset="-122"/>
              </a:rPr>
              <a:t>FEW_SHOT=1</a:t>
            </a:r>
            <a:endParaRPr sz="1100" b="0">
              <a:solidFill>
                <a:srgbClr val="2C5582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2C5582"/>
                </a:solidFill>
                <a:latin typeface="微软雅黑" panose="020B0503020204020204" charset="-122"/>
              </a:rPr>
              <a:t>COT=1</a:t>
            </a:r>
            <a:endParaRPr sz="1100" b="0">
              <a:solidFill>
                <a:srgbClr val="2C5582"/>
              </a:solidFill>
              <a:latin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2C5582"/>
                </a:solidFill>
                <a:latin typeface="微软雅黑" panose="020B0503020204020204" charset="-122"/>
              </a:rPr>
              <a:t>自动降级</a:t>
            </a:r>
            <a:endParaRPr sz="1100" b="0">
              <a:solidFill>
                <a:srgbClr val="2C558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3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4"/>
          <p:cNvCxnSpPr>
            <a:stCxn id="9" idx="2"/>
            <a:endCxn id="16" idx="0"/>
          </p:cNvCxnSpPr>
          <p:nvPr/>
        </p:nvCxnSpPr>
        <p:spPr>
          <a:xfrm rot="5400000" flipV="1">
            <a:off x="4594543" y="5324158"/>
            <a:ext cx="681355" cy="3175"/>
          </a:xfrm>
          <a:prstGeom prst="bentConnector2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评测体系 — 数据集构造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三段式方法（总计 256 条，q22=85 / q23=87 / q24=84）</a:t>
            </a:r>
            <a:endParaRPr sz="15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49655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人工种子
46 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598295" y="2110740"/>
            <a:ext cx="598805" cy="4445"/>
          </a:xfrm>
          <a:prstGeom prst="bentConnector3">
            <a:avLst>
              <a:gd name="adj1" fmla="val 50053"/>
            </a:avLst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97100" y="1737360"/>
            <a:ext cx="1722120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GPT-4.1 网格扩充
210 条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923030" y="2124710"/>
            <a:ext cx="499745" cy="3175"/>
          </a:xfrm>
          <a:prstGeom prst="bentConnector2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43730" y="1737360"/>
            <a:ext cx="1925955" cy="777240"/>
          </a:xfrm>
          <a:prstGeom prst="roundRect">
            <a:avLst/>
          </a:prstGeom>
          <a:solidFill>
            <a:srgbClr val="2C5582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10% 人工抽检
22 条，合格率 100%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390640" y="2115185"/>
            <a:ext cx="685165" cy="3175"/>
          </a:xfrm>
          <a:prstGeom prst="bentConnector2">
            <a:avLst/>
          </a:prstGeom>
          <a:ln w="1524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75805" y="1737360"/>
            <a:ext cx="984885" cy="777240"/>
          </a:xfrm>
          <a:prstGeom prst="roundRect">
            <a:avLst/>
          </a:prstGeom>
          <a:solidFill>
            <a:srgbClr val="38A169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256 条
样本池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关键设计：按 (主标签 × category) 网格调度，强制扩充比例</a:t>
            </a:r>
            <a:endParaRPr sz="14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8640" y="3200400"/>
          <a:ext cx="536638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470"/>
                <a:gridCol w="821690"/>
                <a:gridCol w="2562225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category</a:t>
                      </a:r>
                      <a:endParaRPr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比例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目的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normal  普通典型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60%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让整体准确率有 baseline 意义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longtail  网络词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20%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Prompt 调优有足够攻关样本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boundary  双主标签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10%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测试边界判断能力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perturbation  否定/反问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10%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测试语义鲁棒性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empty  敷衍/不答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种子覆盖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LLM 生成的空回答不可信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760720"/>
            <a:ext cx="10972800" cy="59436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lang="zh-CN" sz="20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人工种子定锚点</a:t>
            </a:r>
            <a:r>
              <a:rPr lang="en-US" altLang="zh-CN" sz="20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+LLM</a:t>
            </a:r>
            <a:r>
              <a:rPr lang="zh-CN" altLang="en-US" sz="20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网格扩充覆盖各类边界，用最小人工成本同时保证标注质量和样本多样性</a:t>
            </a:r>
            <a:endParaRPr lang="zh-CN" altLang="en-US" sz="2000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4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7" name="Table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128385" y="320040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490"/>
                <a:gridCol w="833120"/>
                <a:gridCol w="812800"/>
                <a:gridCol w="965835"/>
                <a:gridCol w="797560"/>
                <a:gridCol w="681355"/>
              </a:tblGrid>
              <a:tr h="396240">
                <a:tc>
                  <a:txBody>
                    <a:bodyPr wrap="square"/>
                    <a:p>
                      <a:pPr algn="l">
                        <a:buClrTx/>
                        <a:buSzTx/>
                        <a:buFontTx/>
                      </a:pPr>
                      <a:r>
                        <a:rPr sz="1400" b="1">
                          <a:solidFill>
                            <a:srgbClr val="1A365D"/>
                          </a:solidFill>
                          <a:latin typeface="+mn-ea"/>
                        </a:rPr>
                        <a:t>主标签</a:t>
                      </a:r>
                      <a:endParaRPr sz="1400" b="1">
                        <a:solidFill>
                          <a:srgbClr val="1A365D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normal</a:t>
                      </a:r>
                      <a:endParaRPr lang="en-US"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longtail</a:t>
                      </a:r>
                      <a:endParaRPr lang="en-US"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boundary</a:t>
                      </a:r>
                      <a:endParaRPr lang="en-US" altLang="zh-CN"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disturb</a:t>
                      </a:r>
                      <a:endParaRPr lang="en-US" altLang="zh-CN"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 b="1">
                          <a:solidFill>
                            <a:srgbClr val="1A365D"/>
                          </a:solidFill>
                          <a:latin typeface="微软雅黑" panose="020B0503020204020204" charset="-122"/>
                        </a:rPr>
                        <a:t>empty</a:t>
                      </a:r>
                      <a:endParaRPr lang="en-US" altLang="zh-CN" sz="1300" b="1">
                        <a:solidFill>
                          <a:srgbClr val="1A365D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96240">
                <a:tc>
                  <a:txBody>
                    <a:bodyPr wrap="square"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communication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——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dishonesty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——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emotional_neglect</a:t>
                      </a:r>
                      <a:endParaRPr sz="1400">
                        <a:solidFill>
                          <a:srgbClr val="2D3748"/>
                        </a:solidFill>
                        <a:latin typeface="+mn-ea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——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p>
                      <a:r>
                        <a:rPr sz="1400">
                          <a:solidFill>
                            <a:srgbClr val="2D3748"/>
                          </a:solidFill>
                          <a:latin typeface="+mn-ea"/>
                        </a:rPr>
                        <a:t>boundry_violation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——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over_demanding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r>
                        <a:rPr lang="en-US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00">
                          <a:solidFill>
                            <a:srgbClr val="2D3748"/>
                          </a:solidFill>
                          <a:latin typeface="微软雅黑" panose="020B0503020204020204" charset="-122"/>
                        </a:rPr>
                        <a:t>——</a:t>
                      </a:r>
                      <a:endParaRPr lang="en-US" altLang="zh-CN" sz="1300">
                        <a:solidFill>
                          <a:srgbClr val="2D3748"/>
                        </a:solidFill>
                        <a:latin typeface="微软雅黑" panose="020B0503020204020204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0680700" y="4251960"/>
            <a:ext cx="1452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空回答不需要</a:t>
            </a:r>
            <a:r>
              <a:rPr lang="en-US" altLang="zh-CN" sz="1000"/>
              <a:t>LLM</a:t>
            </a:r>
            <a:r>
              <a:rPr lang="zh-CN" altLang="en-US" sz="1000"/>
              <a:t>想象</a:t>
            </a:r>
            <a:endParaRPr lang="zh-CN" altLang="en-US" sz="1000"/>
          </a:p>
        </p:txBody>
      </p:sp>
      <p:grpSp>
        <p:nvGrpSpPr>
          <p:cNvPr id="22" name="组合 21"/>
          <p:cNvGrpSpPr/>
          <p:nvPr/>
        </p:nvGrpSpPr>
        <p:grpSpPr>
          <a:xfrm>
            <a:off x="8500745" y="1043305"/>
            <a:ext cx="3020060" cy="2066290"/>
            <a:chOff x="14111" y="1666"/>
            <a:chExt cx="4756" cy="3254"/>
          </a:xfrm>
        </p:grpSpPr>
        <p:sp>
          <p:nvSpPr>
            <p:cNvPr id="20" name="矩形 19"/>
            <p:cNvSpPr/>
            <p:nvPr/>
          </p:nvSpPr>
          <p:spPr>
            <a:xfrm>
              <a:off x="14111" y="1686"/>
              <a:ext cx="4756" cy="3215"/>
            </a:xfrm>
            <a:prstGeom prst="rect">
              <a:avLst/>
            </a:prstGeom>
            <a:solidFill>
              <a:schemeClr val="tx2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4160" y="1666"/>
              <a:ext cx="4659" cy="32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>
                  <a:solidFill>
                    <a:schemeClr val="bg1"/>
                  </a:solidFill>
                </a:rPr>
                <a:t>{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"id": "q22-001",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"text": "想找个咖啡馆坐坐聊聊天",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"expected_main": ["food_social"],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"expected_interaction": "strong",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"expected_sub_keywords": ["咖啡"],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"should_skip": false,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  "category": "normal"</a:t>
              </a:r>
              <a:endParaRPr lang="zh-CN" altLang="en-US" sz="1400">
                <a:solidFill>
                  <a:schemeClr val="bg1"/>
                </a:solidFill>
              </a:endParaRPr>
            </a:p>
            <a:p>
              <a:r>
                <a:rPr lang="zh-CN" altLang="en-US" sz="1400">
                  <a:solidFill>
                    <a:schemeClr val="bg1"/>
                  </a:solidFill>
                </a:rPr>
                <a:t>  }</a:t>
              </a:r>
              <a:endParaRPr lang="zh-CN" altLang="en-US" sz="1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评测体系 — 指标 + 同分布偏差双重验证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8490" y="1116330"/>
            <a:ext cx="5303520" cy="2482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个核心指标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690" y="1403985"/>
          <a:ext cx="109537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705"/>
                <a:gridCol w="912304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指标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说明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主标签准确率</a:t>
                      </a:r>
                      <a:r>
                        <a:rPr 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（核心）</a:t>
                      </a:r>
                      <a:endParaRPr lang="zh-CN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模型输出的主标签是否命中标注的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expected_main 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子标签宽松命中率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模型输出的子标签文本是否包含标注的 expected_sub_keywords</a:t>
                      </a:r>
                      <a:r>
                        <a:rPr 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中任意一个关键词</a:t>
                      </a:r>
                      <a:r>
                        <a:rPr 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，宽松匹配</a:t>
                      </a:r>
                      <a:endParaRPr lang="zh-CN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互动维度准确率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Q22 独有，衡量强互动/弱互动/null 三态判断是否正确，三值严格相等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空判召回率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对于 should_skip=true 的样本（空回答、无意义回答），模型是否正确返回空数组。衡量系统不乱贴标签的能力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9280" y="3442970"/>
            <a:ext cx="189484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C53030"/>
                </a:solidFill>
                <a:latin typeface="黑体" panose="02010609060101010101" charset="-122"/>
                <a:ea typeface="黑体" panose="02010609060101010101" charset="-122"/>
              </a:rPr>
              <a:t>同分布偏差双重验证</a:t>
            </a:r>
            <a:endParaRPr sz="1600" b="1">
              <a:solidFill>
                <a:srgbClr val="C5303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7690" y="3840480"/>
            <a:ext cx="282448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第一层：跨模型对照（同 256 条）</a:t>
            </a:r>
            <a:endParaRPr sz="14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48640" y="4164965"/>
          <a:ext cx="37471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250"/>
                <a:gridCol w="1077595"/>
                <a:gridCol w="117729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模型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准确率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差距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GPT-4.1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97.5%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—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Claude 4.5/4.7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~95-97%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≤ 3pp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Gemini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~95-97%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≤ 3pp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82515" y="3837305"/>
            <a:ext cx="557784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第二层：held-out 对照集（80 条</a:t>
            </a:r>
            <a:r>
              <a:rPr lang="en-US"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claude</a:t>
            </a:r>
            <a:r>
              <a:rPr lang="zh-CN" altLang="en-US"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</a:t>
            </a:r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longtail </a:t>
            </a:r>
            <a:r>
              <a:rPr lang="zh-CN"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占比</a:t>
            </a:r>
            <a:r>
              <a:rPr sz="14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45%）</a:t>
            </a:r>
            <a:endParaRPr sz="14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882515" y="4160520"/>
          <a:ext cx="3728720" cy="112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610"/>
                <a:gridCol w="1769110"/>
              </a:tblGrid>
              <a:tr h="33083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数据集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主标签准确率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扩充集 256 条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97.5%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Held-out 80 条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92.5%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39335" y="5455285"/>
            <a:ext cx="6682105" cy="184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 panose="020B0503020204020204" charset="-122"/>
              </a:rPr>
              <a:t>6 条错全部是 longtail 标注分歧，非系统失败</a:t>
            </a:r>
            <a:r>
              <a:rPr lang="zh-CN" altLang="en-US" sz="1200" b="0">
                <a:solidFill>
                  <a:srgbClr val="2D3748"/>
                </a:solidFill>
                <a:latin typeface="微软雅黑" panose="020B0503020204020204" charset="-122"/>
              </a:rPr>
              <a:t>，</a:t>
            </a:r>
            <a:r>
              <a:rPr sz="1200" b="0">
                <a:solidFill>
                  <a:srgbClr val="2D3748"/>
                </a:solidFill>
                <a:latin typeface="微软雅黑" panose="020B0503020204020204" charset="-122"/>
              </a:rPr>
              <a:t>normal / boundary / perturbation 全部 100%</a:t>
            </a:r>
            <a:endParaRPr sz="1200" b="0">
              <a:solidFill>
                <a:srgbClr val="2D374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0972800" cy="594360"/>
          </a:xfrm>
          <a:prstGeom prst="round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换模型精度差距 ≤3pp，换数据分布精度差距5pp  →  同分布偏差在当前规模下可控，</a:t>
            </a:r>
            <a:r>
              <a:rPr lang="zh-CN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实验设计有效</a:t>
            </a:r>
            <a:endParaRPr lang="zh-CN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5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Prompt 调优 — 实验设计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C53030"/>
                </a:solidFill>
                <a:latin typeface="微软雅黑" panose="020B0503020204020204" charset="-122"/>
              </a:rPr>
              <a:t>调优主要</a:t>
            </a:r>
            <a:r>
              <a:rPr sz="1500" b="1">
                <a:solidFill>
                  <a:srgbClr val="C53030"/>
                </a:solidFill>
                <a:latin typeface="微软雅黑" panose="020B0503020204020204" charset="-122"/>
              </a:rPr>
              <a:t>目标：</a:t>
            </a:r>
            <a:r>
              <a:rPr lang="en-US" sz="1500" b="1">
                <a:solidFill>
                  <a:srgbClr val="C53030"/>
                </a:solidFill>
                <a:latin typeface="微软雅黑" panose="020B0503020204020204" charset="-122"/>
              </a:rPr>
              <a:t>Q22 </a:t>
            </a:r>
            <a:r>
              <a:rPr lang="zh-CN" altLang="en-US" sz="1500" b="1">
                <a:solidFill>
                  <a:srgbClr val="C53030"/>
                </a:solidFill>
                <a:latin typeface="微软雅黑" panose="020B0503020204020204" charset="-122"/>
              </a:rPr>
              <a:t>子标签命中率</a:t>
            </a:r>
            <a:r>
              <a:rPr lang="en-US" altLang="zh-CN" sz="1500" b="1">
                <a:solidFill>
                  <a:srgbClr val="C53030"/>
                </a:solidFill>
                <a:latin typeface="微软雅黑" panose="020B0503020204020204" charset="-122"/>
              </a:rPr>
              <a:t>70.7%</a:t>
            </a:r>
            <a:r>
              <a:rPr lang="zh-CN" altLang="en-US" sz="1500" b="1">
                <a:solidFill>
                  <a:srgbClr val="C53030"/>
                </a:solidFill>
                <a:latin typeface="微软雅黑" panose="020B0503020204020204" charset="-122"/>
              </a:rPr>
              <a:t>，</a:t>
            </a:r>
            <a:r>
              <a:rPr sz="1500" b="1">
                <a:solidFill>
                  <a:srgbClr val="C53030"/>
                </a:solidFill>
                <a:latin typeface="微软雅黑" panose="020B0503020204020204" charset="-122"/>
              </a:rPr>
              <a:t>Q23 longtail 桶基线 76.5%</a:t>
            </a:r>
            <a:endParaRPr sz="1500" b="1">
              <a:solidFill>
                <a:srgbClr val="C5303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微软雅黑" panose="020B0503020204020204" charset="-122"/>
              </a:rPr>
              <a:t>三组实验（同一 244 条评测集，剔除 few-shot 样本保证公平）</a:t>
            </a:r>
            <a:endParaRPr sz="1500" b="0">
              <a:solidFill>
                <a:srgbClr val="2D374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6601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580"/>
                <a:gridCol w="5697855"/>
                <a:gridCol w="3301365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实验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配置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核心思路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#4  零样本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只给标签树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+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规则</a:t>
                      </a:r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，无额外示例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锚点基线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#2  +few-shot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每字段 4 条示例（normal / longtail / boundary / empty 四象限）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教格式 + 给网络词范例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#3  +few-shot+CoT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在 #2 基础上加 reasoning 字段，先翻译词义再选标签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让模型显式推理
中央空调→不专一→dishonesty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196205"/>
            <a:ext cx="10972800" cy="6858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公平性保障：12 条 few-shot 样本硬编码 ID，评测时用 --exclude-few-shot 标志剔除（256→244）</a:t>
            </a:r>
            <a:endParaRPr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6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Prompt 调优 — 三轴结果与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分桶视角下的关键指标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变化</a:t>
            </a:r>
            <a:endParaRPr lang="zh-CN"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944225" cy="169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415"/>
                <a:gridCol w="1230630"/>
                <a:gridCol w="863600"/>
                <a:gridCol w="1252855"/>
                <a:gridCol w="1332230"/>
                <a:gridCol w="1638935"/>
                <a:gridCol w="1644015"/>
                <a:gridCol w="1312790"/>
              </a:tblGrid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实验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主标签准确率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平均耗时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Token / 样本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成本相对基线</a:t>
                      </a:r>
                      <a:endParaRPr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Q23 </a:t>
                      </a:r>
                      <a:r>
                        <a:rPr lang="en-US" altLang="zh-CN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longtail</a:t>
                      </a:r>
                      <a:endParaRPr lang="en-US" altLang="zh-CN"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Q22</a:t>
                      </a:r>
                      <a:r>
                        <a:rPr lang="zh-CN" altLang="en-US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子标签</a:t>
                      </a:r>
                      <a:r>
                        <a:rPr lang="zh-CN" altLang="en-US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命中率</a:t>
                      </a:r>
                      <a:endParaRPr lang="zh-CN" altLang="en-US"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Q22</a:t>
                      </a:r>
                      <a:r>
                        <a:rPr lang="zh-CN" altLang="en-US" sz="14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互动维度</a:t>
                      </a:r>
                      <a:endParaRPr lang="zh-CN" altLang="en-US" sz="14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#4  零样本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97.5%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1464ms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732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基准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76.5%</a:t>
                      </a:r>
                      <a:endParaRPr lang="en-US" altLang="zh-CN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70.7%</a:t>
                      </a:r>
                      <a:endParaRPr lang="en-US" altLang="zh-CN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78.8%</a:t>
                      </a:r>
                      <a:endParaRPr lang="en-US" altLang="zh-CN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#2  +few-shot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96.7%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1603ms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1036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+41%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81.3%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+4.8pp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89.9%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+19pp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81.5%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+3pp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#3  +few-shot+CoT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97.5%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1573ms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1154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+58%</a:t>
                      </a:r>
                      <a:endParaRPr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81.3%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（和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#2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持平）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81.0%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+10pp</a:t>
                      </a:r>
                      <a:r>
                        <a:rPr lang="zh-CN" altLang="en-US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4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72.8%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-6pp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）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340735"/>
            <a:ext cx="10972800" cy="5943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few-shot大幅提升子标签</a:t>
            </a:r>
            <a:r>
              <a:rPr lang="zh-CN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命中率</a:t>
            </a:r>
            <a:r>
              <a:rPr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和longtail</a:t>
            </a:r>
            <a:r>
              <a:rPr lang="zh-CN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，CoT</a:t>
            </a:r>
            <a:r>
              <a:rPr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没有额外收益，</a:t>
            </a:r>
            <a:r>
              <a:rPr lang="zh-CN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零样本是成本最低且无副作用的稳健基线</a:t>
            </a:r>
            <a:r>
              <a:rPr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7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6570" y="1092200"/>
            <a:ext cx="4718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整体主标签准确率（三轴：精度/耗时/成本）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898005" y="1085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分桶视角下的关键指标变化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49275" y="4029075"/>
            <a:ext cx="11299825" cy="725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#4 零样本</a:t>
            </a:r>
            <a:endParaRPr sz="1600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优势：成本最低</a:t>
            </a:r>
            <a:r>
              <a:rPr lang="zh-CN"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、</a:t>
            </a:r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速度最快</a:t>
            </a:r>
            <a:r>
              <a:rPr lang="zh-CN"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、</a:t>
            </a:r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整体准确率已达 97.5%</a:t>
            </a:r>
            <a:endParaRPr sz="1200">
              <a:solidFill>
                <a:srgbClr val="2D3748"/>
              </a:solidFill>
              <a:latin typeface="+mn-ea"/>
              <a:cs typeface="+mn-ea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劣势</a:t>
            </a:r>
            <a:r>
              <a:rPr lang="zh-CN"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：</a:t>
            </a:r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Q22 子标签命中率只有 70.7%，子标签覆盖明显不足；Q23 longtail 76.5%，网络词识别最弱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549275" y="4701540"/>
            <a:ext cx="10943590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#2 +few-shot</a:t>
            </a:r>
            <a:endParaRPr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优势：Q22 子标签命中率从 70.7% 跳升到 89.9%，+19pp，是三组里提升最大的单项；Q23 longtail 小幅升至 81.3%（+4.8pp）</a:t>
            </a:r>
            <a:endParaRPr sz="1200">
              <a:solidFill>
                <a:srgbClr val="2D3748"/>
              </a:solidFill>
              <a:latin typeface="+mn-ea"/>
              <a:cs typeface="+mn-ea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劣势：每次调用固定多付 ~304 token 的 prompt 开销（+41%）；Q23 longtail 改善有限，远未达到 90% 目标</a:t>
            </a:r>
            <a:r>
              <a:rPr lang="zh-CN"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。示例帮助了难样本，但对简单样本是噪声，整体均值反而略低。</a:t>
            </a:r>
            <a:endParaRPr lang="zh-CN" sz="1200">
              <a:solidFill>
                <a:srgbClr val="2D3748"/>
              </a:solidFill>
              <a:latin typeface="+mn-ea"/>
              <a:cs typeface="+mn-ea"/>
            </a:endParaRPr>
          </a:p>
          <a:p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548640" y="5536565"/>
            <a:ext cx="1099693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#3 +few-shot+CoT</a:t>
            </a:r>
            <a:endParaRPr sz="1400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优势：修复了 Q22 longtail 桶（94%→100%），CoT 对词义模糊的样本确实有帮助</a:t>
            </a:r>
            <a:endParaRPr sz="1200">
              <a:solidFill>
                <a:srgbClr val="2D3748"/>
              </a:solidFill>
              <a:latin typeface="+mn-ea"/>
              <a:cs typeface="+mn-ea"/>
            </a:endParaRPr>
          </a:p>
          <a:p>
            <a:r>
              <a:rPr sz="1200">
                <a:solidFill>
                  <a:srgbClr val="2D3748"/>
                </a:solidFill>
                <a:latin typeface="+mn-ea"/>
                <a:cs typeface="+mn-ea"/>
                <a:sym typeface="+mn-ea"/>
              </a:rPr>
              <a:t>- 劣势：Q22 互动维度准确率从 81.5% 跌至 72.8%，-8.7pp，是最大的副作用——CoT引导模型做推理时，注意力从互动强弱判断上分散了；成本最贵（+58%）；Q23 longtail 和 #2 完全持平，CoT 对它毫无额外贡献</a:t>
            </a:r>
            <a:endParaRPr sz="1200">
              <a:solidFill>
                <a:srgbClr val="2D3748"/>
              </a:solidFill>
              <a:latin typeface="+mn-ea"/>
              <a:cs typeface="+mn-ea"/>
            </a:endParaRPr>
          </a:p>
          <a:p>
            <a:endParaRPr lang="zh-CN" alt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五</a:t>
            </a:r>
            <a:r>
              <a:rPr lang="zh-CN"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sz="3000" b="1">
                <a:solidFill>
                  <a:srgbClr val="1A365D"/>
                </a:solidFill>
                <a:latin typeface="黑体" panose="02010609060101010101" charset="-122"/>
                <a:ea typeface="黑体" panose="02010609060101010101" charset="-122"/>
              </a:rPr>
              <a:t>结论</a:t>
            </a:r>
            <a:endParaRPr sz="3000" b="1">
              <a:solidFill>
                <a:srgbClr val="1A365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0972800" cy="2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维度</a:t>
                      </a:r>
                      <a:endParaRPr sz="15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365D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结果</a:t>
                      </a:r>
                      <a:endParaRPr sz="1500" b="1">
                        <a:solidFill>
                          <a:srgbClr val="1A365D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EBF4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lang="zh-CN"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方案</a:t>
                      </a:r>
                      <a:r>
                        <a:rPr lang="zh-CN"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可行性</a:t>
                      </a:r>
                      <a:endParaRPr lang="zh-CN"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关键词规则 53.3%  →  LLM 零样本 97.5%，提升 44pp</a:t>
                      </a:r>
                      <a:endParaRPr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Prompt 调优</a:t>
                      </a:r>
                      <a:endParaRPr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零样本已是</a:t>
                      </a:r>
                      <a:r>
                        <a:rPr lang="zh-CN"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精度和成本权衡</a:t>
                      </a:r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最优；few-shot 的真实价值在子标签（+19pp），不在主标签</a:t>
                      </a:r>
                      <a:endParaRPr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评测可信度</a:t>
                      </a:r>
                      <a:endParaRPr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跨模型、跨数据</a:t>
                      </a:r>
                      <a:r>
                        <a:rPr sz="1500">
                          <a:solidFill>
                            <a:srgbClr val="2D3748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双重验证确认同分布偏差可控，held-out 92.5% 是保守下界</a:t>
                      </a:r>
                      <a:endParaRPr sz="1500">
                        <a:solidFill>
                          <a:srgbClr val="2D3748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可</a:t>
            </a:r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复用的工程资产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0972800" cy="685800"/>
          </a:xfrm>
          <a:prstGeom prst="roundRect">
            <a:avLst/>
          </a:prstGeom>
          <a:solidFill>
            <a:srgbClr val="FFF5CC"/>
          </a:solidFill>
          <a:ln w="9525">
            <a:solidFill>
              <a:srgbClr val="E2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三段式评测数据集（种子→网格扩充→抽检）+ 5</a:t>
            </a:r>
            <a:r>
              <a:rPr lang="en-US"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类分桶 + </a:t>
            </a:r>
            <a:r>
              <a:rPr lang="en-US"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</a:t>
            </a:r>
            <a:r>
              <a:rPr lang="zh-CN" altLang="en-US"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个核心指标</a:t>
            </a:r>
            <a:r>
              <a:rPr sz="1600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→  可迁移到任意标签抽取任务</a:t>
            </a:r>
            <a:endParaRPr sz="1600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D3748"/>
                </a:solidFill>
                <a:latin typeface="黑体" panose="02010609060101010101" charset="-122"/>
                <a:ea typeface="黑体" panose="02010609060101010101" charset="-122"/>
              </a:rPr>
              <a:t>未来工作</a:t>
            </a:r>
            <a:endParaRPr sz="1600" b="1">
              <a:solidFill>
                <a:srgbClr val="2D374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483860"/>
            <a:ext cx="10515600" cy="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跨领域迁移（DomainConfig 注入，验证电商 / 游戏场景）</a:t>
            </a:r>
            <a:endParaRPr sz="1300">
              <a:solidFill>
                <a:srgbClr val="2D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D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工程化：请求队列 + 熔断 + Token usage 可观测性  </a:t>
            </a:r>
            <a:endParaRPr sz="1300">
              <a:solidFill>
                <a:srgbClr val="2D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sz="1300">
                <a:solidFill>
                  <a:srgbClr val="2D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 </a:t>
            </a:r>
            <a:r>
              <a:rPr sz="1300">
                <a:solidFill>
                  <a:srgbClr val="2D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应用：匹配推荐赋能 / 冷启动对话</a:t>
            </a:r>
            <a:endParaRPr sz="1300">
              <a:solidFill>
                <a:srgbClr val="2D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OurAI 问卷自由文本标签抽取 · 2026-06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微软雅黑" panose="020B0503020204020204" charset="-122"/>
              </a:rPr>
              <a:t>8 / 8</a:t>
            </a:r>
            <a:endParaRPr sz="1000" b="0">
              <a:solidFill>
                <a:srgbClr val="808080"/>
              </a:solidFill>
              <a:latin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19375" y="3672205"/>
            <a:ext cx="6374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https://github.com/Yadadada/OurAI-TagStrategy.git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90545"/>
            <a:ext cx="10972800" cy="676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4400" b="1">
                <a:solidFill>
                  <a:schemeClr val="tx1"/>
                </a:solidFill>
                <a:latin typeface="微软雅黑" panose="020B0503020204020204" charset="-122"/>
              </a:rPr>
              <a:t>谢谢</a:t>
            </a:r>
            <a:r>
              <a:rPr lang="zh-CN" sz="4400" b="1">
                <a:solidFill>
                  <a:schemeClr val="tx1"/>
                </a:solidFill>
                <a:latin typeface="微软雅黑" panose="020B0503020204020204" charset="-122"/>
              </a:rPr>
              <a:t>！</a:t>
            </a:r>
            <a:endParaRPr lang="zh-CN" sz="4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22*187"/>
  <p:tag name="TABLE_ENDDRAG_RECT" val="43*252*422*187"/>
</p:tagLst>
</file>

<file path=ppt/tags/tag2.xml><?xml version="1.0" encoding="utf-8"?>
<p:tagLst xmlns:p="http://schemas.openxmlformats.org/presentationml/2006/main">
  <p:tag name="TABLE_ENDDRAG_ORIGIN_RECT" val="460*187"/>
  <p:tag name="TABLE_ENDDRAG_RECT" val="43*252*460*187"/>
</p:tagLst>
</file>

<file path=ppt/tags/tag3.xml><?xml version="1.0" encoding="utf-8"?>
<p:tagLst xmlns:p="http://schemas.openxmlformats.org/presentationml/2006/main">
  <p:tag name="TABLE_ENDDRAG_ORIGIN_RECT" val="862*144"/>
  <p:tag name="TABLE_ENDDRAG_RECT" val="43*129*862*144"/>
</p:tagLst>
</file>

<file path=ppt/tags/tag4.xml><?xml version="1.0" encoding="utf-8"?>
<p:tagLst xmlns:p="http://schemas.openxmlformats.org/presentationml/2006/main">
  <p:tag name="TABLE_ENDDRAG_ORIGIN_RECT" val="295*108"/>
  <p:tag name="TABLE_ENDDRAG_RECT" val="43*333*295*108"/>
</p:tagLst>
</file>

<file path=ppt/tags/tag5.xml><?xml version="1.0" encoding="utf-8"?>
<p:tagLst xmlns:p="http://schemas.openxmlformats.org/presentationml/2006/main">
  <p:tag name="TABLE_ENDDRAG_ORIGIN_RECT" val="293*88"/>
  <p:tag name="TABLE_ENDDRAG_RECT" val="384*327*293*88"/>
</p:tagLst>
</file>

<file path=ppt/tags/tag6.xml><?xml version="1.0" encoding="utf-8"?>
<p:tagLst xmlns:p="http://schemas.openxmlformats.org/presentationml/2006/main">
  <p:tag name="commondata" val="eyJoZGlkIjoiZWQ0ZTZmZWNmODQwNTBjZmM1YTRmMGYwYTVkMmQ5Z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3674</Words>
  <Application>WPS 演示</Application>
  <PresentationFormat>On-screen Show (4:3)</PresentationFormat>
  <Paragraphs>484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微软雅黑 Light</vt:lpstr>
      <vt:lpstr>Malgun Gothic</vt:lpstr>
      <vt:lpstr>黑体</vt:lpstr>
      <vt:lpstr>等线</vt:lpstr>
      <vt:lpstr>仿宋</vt:lpstr>
      <vt:lpstr>楷体</vt:lpstr>
      <vt:lpstr>等线 Light</vt:lpstr>
      <vt:lpstr>新宋体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泡泡胖胖PoP</cp:lastModifiedBy>
  <cp:revision>10</cp:revision>
  <dcterms:created xsi:type="dcterms:W3CDTF">2013-01-27T09:14:00Z</dcterms:created>
  <dcterms:modified xsi:type="dcterms:W3CDTF">2026-06-17T06:02:31Z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286C13D9724C40C6B64C7AB14302ABB0_13</vt:lpwstr>
  </property>
  <property fmtid="{D5CDD505-2E9C-101B-9397-08002B2CF9AE}" pid="3" name="KSOProductBuildVer">
    <vt:lpwstr>2052-12.1.0.18276</vt:lpwstr>
  </property>
</Properties>
</file>